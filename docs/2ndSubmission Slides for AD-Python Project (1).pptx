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Roboto" panose="020F0502020204030204" pitchFamily="2" charset="0"/>
      <p:regular r:id="rId15"/>
      <p:bold r:id="rId16"/>
      <p:italic r:id="rId17"/>
      <p:boldItalic r:id="rId18"/>
    </p:embeddedFont>
    <p:embeddedFont>
      <p:font typeface="Roboto Mono" panose="020F050202020403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82" y="3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12acda57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12acda57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12acda57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12acda57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2acda57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2acda57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d2dde6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1d2dde6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12acda57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12acda57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12acda57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12acda57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d2dde6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1d2dde6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12acda57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12acda57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12acda57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12acda57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12acda57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12acda573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2acda57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2acda57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lang="fr" sz="2370" b="1" u="sng"/>
              <a:t>Gene Expression Analysis of Alzheimer’s-Related Genes Across Disease Stages Using Python-Based Visualization</a:t>
            </a:r>
            <a:endParaRPr sz="4080" b="1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 b="1">
                <a:solidFill>
                  <a:srgbClr val="A64D79"/>
                </a:solidFill>
              </a:rPr>
              <a:t>Nada Khalifi, Kashfia Raisa</a:t>
            </a:r>
            <a:endParaRPr sz="1800" b="1">
              <a:solidFill>
                <a:srgbClr val="A64D7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</a:rPr>
              <a:t>Introduction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Alzheimer’s disease (AD): progressive neurodegenerative disorder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Focused on gene expression changes across stages</a:t>
            </a:r>
            <a:br>
              <a:rPr lang="f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Goal: Examine stage-specific expression of six AD-related genes (</a:t>
            </a:r>
            <a:r>
              <a:rPr lang="f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APP,BACE1, CLU,MAPT,PSEN1,TREM2</a:t>
            </a:r>
            <a:r>
              <a:rPr lang="fr" sz="1700">
                <a:solidFill>
                  <a:schemeClr val="dk1"/>
                </a:solidFill>
              </a:rPr>
              <a:t>)</a:t>
            </a:r>
            <a:br>
              <a:rPr lang="f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Compare </a:t>
            </a:r>
            <a:r>
              <a:rPr lang="fr" sz="1700" b="1">
                <a:solidFill>
                  <a:schemeClr val="dk1"/>
                </a:solidFill>
              </a:rPr>
              <a:t>Incipient vs Severe</a:t>
            </a:r>
            <a:r>
              <a:rPr lang="fr" sz="1700">
                <a:solidFill>
                  <a:schemeClr val="dk1"/>
                </a:solidFill>
              </a:rPr>
              <a:t> stages using Python visualizations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311700" y="1808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</a:rPr>
              <a:t>Methods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10000"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endParaRPr sz="2300" b="1">
              <a:solidFill>
                <a:schemeClr val="dk1"/>
              </a:solidFill>
            </a:endParaRPr>
          </a:p>
          <a:p>
            <a:pPr marL="457200" lvl="0" indent="-31859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983" b="1">
                <a:solidFill>
                  <a:schemeClr val="dk1"/>
                </a:solidFill>
              </a:rPr>
              <a:t>Data:</a:t>
            </a:r>
            <a:r>
              <a:rPr lang="fr" sz="2983">
                <a:solidFill>
                  <a:schemeClr val="dk1"/>
                </a:solidFill>
              </a:rPr>
              <a:t> Public Alzheimer’s gene expression dataset</a:t>
            </a:r>
            <a:br>
              <a:rPr lang="fr" sz="2983">
                <a:solidFill>
                  <a:schemeClr val="dk1"/>
                </a:solidFill>
              </a:rPr>
            </a:br>
            <a:endParaRPr sz="2983">
              <a:solidFill>
                <a:schemeClr val="dk1"/>
              </a:solidFill>
            </a:endParaRPr>
          </a:p>
          <a:p>
            <a:pPr marL="457200" lvl="0" indent="-31859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983" b="1">
                <a:solidFill>
                  <a:schemeClr val="dk1"/>
                </a:solidFill>
              </a:rPr>
              <a:t>Preprocessing:</a:t>
            </a:r>
            <a:br>
              <a:rPr lang="fr" sz="2983" b="1">
                <a:solidFill>
                  <a:schemeClr val="dk1"/>
                </a:solidFill>
              </a:rPr>
            </a:br>
            <a:endParaRPr sz="2983" b="1">
              <a:solidFill>
                <a:schemeClr val="dk1"/>
              </a:solidFill>
            </a:endParaRPr>
          </a:p>
          <a:p>
            <a:pPr marL="914400" lvl="1" indent="-31859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2983">
                <a:solidFill>
                  <a:schemeClr val="dk1"/>
                </a:solidFill>
              </a:rPr>
              <a:t>Column renamed to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fr" sz="2983">
                <a:solidFill>
                  <a:schemeClr val="dk1"/>
                </a:solidFill>
              </a:rPr>
              <a:t>,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ID_REF</a:t>
            </a:r>
            <a:r>
              <a:rPr lang="fr" sz="2983">
                <a:solidFill>
                  <a:schemeClr val="dk1"/>
                </a:solidFill>
              </a:rPr>
              <a:t> set as index</a:t>
            </a:r>
            <a:br>
              <a:rPr lang="fr" sz="2983">
                <a:solidFill>
                  <a:schemeClr val="dk1"/>
                </a:solidFill>
              </a:rPr>
            </a:br>
            <a:endParaRPr sz="2983">
              <a:solidFill>
                <a:schemeClr val="dk1"/>
              </a:solidFill>
            </a:endParaRPr>
          </a:p>
          <a:p>
            <a:pPr marL="914400" lvl="1" indent="-31859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2983">
                <a:solidFill>
                  <a:schemeClr val="dk1"/>
                </a:solidFill>
              </a:rPr>
              <a:t>Selected six genes, converted values to numeric</a:t>
            </a:r>
            <a:br>
              <a:rPr lang="fr" sz="2983">
                <a:solidFill>
                  <a:schemeClr val="dk1"/>
                </a:solidFill>
              </a:rPr>
            </a:br>
            <a:endParaRPr sz="2983">
              <a:solidFill>
                <a:schemeClr val="dk1"/>
              </a:solidFill>
            </a:endParaRPr>
          </a:p>
          <a:p>
            <a:pPr marL="457200" lvl="0" indent="-31859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983" b="1">
                <a:solidFill>
                  <a:schemeClr val="dk1"/>
                </a:solidFill>
              </a:rPr>
              <a:t>Analysis Tools:</a:t>
            </a:r>
            <a:r>
              <a:rPr lang="fr" sz="2983">
                <a:solidFill>
                  <a:schemeClr val="dk1"/>
                </a:solidFill>
              </a:rPr>
              <a:t>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fr" sz="2983">
                <a:solidFill>
                  <a:schemeClr val="dk1"/>
                </a:solidFill>
              </a:rPr>
              <a:t>,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r>
              <a:rPr lang="fr" sz="2983">
                <a:solidFill>
                  <a:schemeClr val="dk1"/>
                </a:solidFill>
              </a:rPr>
              <a:t>,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seaborn</a:t>
            </a:r>
            <a:b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2983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859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983" b="1">
                <a:solidFill>
                  <a:schemeClr val="dk1"/>
                </a:solidFill>
              </a:rPr>
              <a:t>Visualizations:</a:t>
            </a:r>
            <a:r>
              <a:rPr lang="fr" sz="2983">
                <a:solidFill>
                  <a:schemeClr val="dk1"/>
                </a:solidFill>
              </a:rPr>
              <a:t> Boxplots, heatmap, histogram, summary table</a:t>
            </a:r>
            <a:endParaRPr sz="298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11700" y="1079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</a:rPr>
              <a:t>Boxplot of Gene Expression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5376000" y="542950"/>
            <a:ext cx="3861600" cy="34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600" b="1">
                <a:solidFill>
                  <a:schemeClr val="dk1"/>
                </a:solidFill>
              </a:rPr>
              <a:t>Explanation 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Compares expression between Severe vs Incipient samples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Median, variability, and outliers shown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 b="1">
                <a:solidFill>
                  <a:schemeClr val="dk1"/>
                </a:solidFill>
              </a:rPr>
              <a:t>MAPT</a:t>
            </a:r>
            <a:r>
              <a:rPr lang="fr" sz="1600">
                <a:solidFill>
                  <a:schemeClr val="dk1"/>
                </a:solidFill>
              </a:rPr>
              <a:t> and </a:t>
            </a:r>
            <a:r>
              <a:rPr lang="fr" sz="1600" b="1">
                <a:solidFill>
                  <a:schemeClr val="dk1"/>
                </a:solidFill>
              </a:rPr>
              <a:t>PSEN1</a:t>
            </a:r>
            <a:r>
              <a:rPr lang="fr" sz="1600">
                <a:solidFill>
                  <a:schemeClr val="dk1"/>
                </a:solidFill>
              </a:rPr>
              <a:t> show largest stage-specific differences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5" name="Google Shape;105;p16" title="gene_expression_box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750" y="832500"/>
            <a:ext cx="5432750" cy="289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311700" y="3670100"/>
            <a:ext cx="5998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1: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Boxplot (APP, BACE1, CLU, MAPT, PSEN1, TREM2)</a:t>
            </a:r>
            <a:b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166225" y="5912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b="1">
                <a:solidFill>
                  <a:schemeClr val="accent3"/>
                </a:solidFill>
              </a:rPr>
              <a:t>Mean Gene Expression by Stage (Bar Plot)</a:t>
            </a:r>
            <a:endParaRPr sz="3300" b="1">
              <a:solidFill>
                <a:schemeClr val="accent3"/>
              </a:solidFill>
            </a:endParaRPr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5701500" y="810525"/>
            <a:ext cx="3096600" cy="33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1" b="1">
                <a:solidFill>
                  <a:schemeClr val="dk1"/>
                </a:solidFill>
              </a:rPr>
              <a:t>Explanation</a:t>
            </a:r>
            <a:r>
              <a:rPr lang="fr" sz="2301">
                <a:solidFill>
                  <a:schemeClr val="dk1"/>
                </a:solidFill>
              </a:rPr>
              <a:t>: </a:t>
            </a:r>
            <a:endParaRPr sz="2301">
              <a:solidFill>
                <a:schemeClr val="dk1"/>
              </a:solidFill>
            </a:endParaRPr>
          </a:p>
          <a:p>
            <a:pPr marL="457200" lvl="0" indent="-308991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Summarizes trends seen in box plots (Figure 1).</a:t>
            </a:r>
            <a:endParaRPr sz="2301">
              <a:solidFill>
                <a:schemeClr val="dk1"/>
              </a:solidFill>
            </a:endParaRPr>
          </a:p>
          <a:p>
            <a:pPr marL="457200" lvl="0" indent="-30899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Positive bars indicate higher mean expression in Severe stage.</a:t>
            </a:r>
            <a:br>
              <a:rPr lang="fr" sz="2301">
                <a:solidFill>
                  <a:schemeClr val="dk1"/>
                </a:solidFill>
              </a:rPr>
            </a:br>
            <a:endParaRPr sz="2301">
              <a:solidFill>
                <a:schemeClr val="dk1"/>
              </a:solidFill>
            </a:endParaRPr>
          </a:p>
          <a:p>
            <a:pPr marL="457200" lvl="0" indent="-30899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Variability shown with error bars highlights consistency across samples.</a:t>
            </a:r>
            <a:br>
              <a:rPr lang="fr" sz="2301">
                <a:solidFill>
                  <a:schemeClr val="dk1"/>
                </a:solidFill>
              </a:rPr>
            </a:br>
            <a:endParaRPr sz="2301">
              <a:solidFill>
                <a:schemeClr val="dk1"/>
              </a:solidFill>
            </a:endParaRPr>
          </a:p>
          <a:p>
            <a:pPr marL="457200" lvl="0" indent="-30899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MAPT and PSEN1 show the largest differences between stages.</a:t>
            </a:r>
            <a:endParaRPr sz="230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17" title="mean_gene_expression_bar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25" y="891425"/>
            <a:ext cx="5580677" cy="2978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643575" y="3991575"/>
            <a:ext cx="49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1">
                <a:solidFill>
                  <a:schemeClr val="accent2"/>
                </a:solidFill>
              </a:rPr>
              <a:t>Figure 2:</a:t>
            </a:r>
            <a:r>
              <a:rPr lang="fr" sz="1100">
                <a:solidFill>
                  <a:schemeClr val="accent2"/>
                </a:solidFill>
              </a:rPr>
              <a:t> Mean Gene Expression by Alzheimer Stage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</a:rPr>
              <a:t>Heatmap Across Samples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5271875" y="660275"/>
            <a:ext cx="378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5500">
                <a:solidFill>
                  <a:schemeClr val="dk1"/>
                </a:solidFill>
              </a:rPr>
              <a:t> </a:t>
            </a:r>
            <a:r>
              <a:rPr lang="fr" sz="5500" b="1">
                <a:solidFill>
                  <a:schemeClr val="dk1"/>
                </a:solidFill>
              </a:rPr>
              <a:t>Explanation:</a:t>
            </a:r>
            <a:endParaRPr sz="5500" b="1">
              <a:solidFill>
                <a:schemeClr val="dk1"/>
              </a:solidFill>
            </a:endParaRPr>
          </a:p>
          <a:p>
            <a:pPr marL="457200" lvl="0" indent="-315912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Rows: patients, Columns: genes</a:t>
            </a:r>
            <a:br>
              <a:rPr lang="fr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marL="457200" lvl="0" indent="-3159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Genes ordered by fold-change between stages</a:t>
            </a:r>
            <a:br>
              <a:rPr lang="fr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marL="457200" lvl="0" indent="-3159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Color gradient: low → high expression</a:t>
            </a:r>
            <a:br>
              <a:rPr lang="fr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marL="457200" lvl="0" indent="-31591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Highlights consistent upregulation of </a:t>
            </a:r>
            <a:r>
              <a:rPr lang="fr" sz="5500" b="1">
                <a:solidFill>
                  <a:schemeClr val="dk1"/>
                </a:solidFill>
              </a:rPr>
              <a:t>MAPT</a:t>
            </a:r>
            <a:r>
              <a:rPr lang="fr" sz="5500">
                <a:solidFill>
                  <a:schemeClr val="dk1"/>
                </a:solidFill>
              </a:rPr>
              <a:t> and </a:t>
            </a:r>
            <a:r>
              <a:rPr lang="fr" sz="5500" b="1">
                <a:solidFill>
                  <a:schemeClr val="dk1"/>
                </a:solidFill>
              </a:rPr>
              <a:t>PSEN1</a:t>
            </a:r>
            <a:r>
              <a:rPr lang="fr" sz="5500">
                <a:solidFill>
                  <a:schemeClr val="dk1"/>
                </a:solidFill>
              </a:rPr>
              <a:t> in Severe cases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1" name="Google Shape;121;p18" title="heatmap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0275"/>
            <a:ext cx="4977700" cy="372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0" y="4388700"/>
            <a:ext cx="599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3: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Heatmap of gene expression across all patients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176300" y="455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  <a:highlight>
                  <a:schemeClr val="lt1"/>
                </a:highlight>
              </a:rPr>
              <a:t>Table of Significant Genes</a:t>
            </a:r>
            <a:endParaRPr sz="3600">
              <a:solidFill>
                <a:schemeClr val="accent3"/>
              </a:solidFill>
              <a:highlight>
                <a:schemeClr val="lt1"/>
              </a:highlight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xfrm>
            <a:off x="0" y="2451575"/>
            <a:ext cx="8520600" cy="25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None/>
            </a:pP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fr" sz="1100">
                <a:solidFill>
                  <a:schemeClr val="dk1"/>
                </a:solidFill>
              </a:rPr>
            </a:br>
            <a:r>
              <a:rPr lang="fr" sz="1944">
                <a:solidFill>
                  <a:schemeClr val="dk1"/>
                </a:solidFill>
              </a:rPr>
              <a:t> </a:t>
            </a:r>
            <a:r>
              <a:rPr lang="fr" sz="1944" b="1">
                <a:solidFill>
                  <a:schemeClr val="dk1"/>
                </a:solidFill>
              </a:rPr>
              <a:t>Explanation:</a:t>
            </a:r>
            <a:endParaRPr sz="1944" b="1">
              <a:solidFill>
                <a:schemeClr val="dk1"/>
              </a:solidFill>
            </a:endParaRPr>
          </a:p>
          <a:p>
            <a:pPr marL="457200" lvl="0" indent="-324284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944">
                <a:solidFill>
                  <a:schemeClr val="dk1"/>
                </a:solidFill>
              </a:rPr>
              <a:t>Shows mean expression per stage + fold-change</a:t>
            </a:r>
            <a:br>
              <a:rPr lang="fr" sz="1944">
                <a:solidFill>
                  <a:schemeClr val="dk1"/>
                </a:solidFill>
              </a:rPr>
            </a:br>
            <a:endParaRPr sz="1944">
              <a:solidFill>
                <a:schemeClr val="dk1"/>
              </a:solidFill>
            </a:endParaRPr>
          </a:p>
          <a:p>
            <a:pPr marL="457200" lvl="0" indent="-32428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944">
                <a:solidFill>
                  <a:schemeClr val="dk1"/>
                </a:solidFill>
              </a:rPr>
              <a:t>Fold-change &gt;1 → higher in Severe, &lt;1 → higher in Incipient</a:t>
            </a:r>
            <a:br>
              <a:rPr lang="fr" sz="1944">
                <a:solidFill>
                  <a:schemeClr val="dk1"/>
                </a:solidFill>
              </a:rPr>
            </a:br>
            <a:endParaRPr sz="1944">
              <a:solidFill>
                <a:schemeClr val="dk1"/>
              </a:solidFill>
            </a:endParaRPr>
          </a:p>
          <a:p>
            <a:pPr marL="457200" lvl="0" indent="-32428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944">
                <a:solidFill>
                  <a:schemeClr val="dk1"/>
                </a:solidFill>
              </a:rPr>
              <a:t>Prioritizes genes with largest differences: </a:t>
            </a:r>
            <a:r>
              <a:rPr lang="fr" sz="1944" b="1">
                <a:solidFill>
                  <a:schemeClr val="dk1"/>
                </a:solidFill>
              </a:rPr>
              <a:t>MAPT, PSEN1</a:t>
            </a:r>
            <a:endParaRPr sz="1944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9" name="Google Shape;129;p19" title="sig_genes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53" y="748625"/>
            <a:ext cx="7714376" cy="2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98650" y="2696725"/>
            <a:ext cx="599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1: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Mean expression &amp; fold-change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157650" y="5332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accent3"/>
                </a:solidFill>
              </a:rPr>
              <a:t>Fold-Change Bar Plot (Severe vs Incipient)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>
            <a:off x="5719825" y="661125"/>
            <a:ext cx="34842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>
                <a:solidFill>
                  <a:schemeClr val="dk1"/>
                </a:solidFill>
              </a:rPr>
              <a:t>Explanation: </a:t>
            </a:r>
            <a:endParaRPr sz="56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Positive log2 fold-change → gene upregulated in Severe cases.</a:t>
            </a:r>
            <a:br>
              <a:rPr lang="fr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Negative log2 fold-change → gene downregulated in Severe cases.</a:t>
            </a:r>
            <a:br>
              <a:rPr lang="fr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Highlights MAPT and PSEN1 as the genes with the strongest changes.</a:t>
            </a:r>
            <a:br>
              <a:rPr lang="fr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Complements numeric data in Table 1 and visual patterns in Figures 1–3.</a:t>
            </a:r>
            <a:endParaRPr sz="5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0" title="fold_change_barplot_si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75" y="1022875"/>
            <a:ext cx="5523000" cy="297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446750" y="4000125"/>
            <a:ext cx="492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b="1">
                <a:solidFill>
                  <a:schemeClr val="dk1"/>
                </a:solidFill>
              </a:rPr>
              <a:t>Figure 4:</a:t>
            </a:r>
            <a:r>
              <a:rPr lang="fr" sz="1100">
                <a:solidFill>
                  <a:schemeClr val="dk1"/>
                </a:solidFill>
              </a:rPr>
              <a:t> Log2 Fold-Change of Gene Expression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165900" y="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</a:rPr>
              <a:t>Distribution of Gene Expression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5222525" y="1086000"/>
            <a:ext cx="39216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 b="1">
                <a:solidFill>
                  <a:schemeClr val="dk1"/>
                </a:solidFill>
              </a:rPr>
              <a:t>Explanation: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Shows expression variability for each gene</a:t>
            </a:r>
            <a:br>
              <a:rPr lang="f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Peaks indicate common expression levels, tails indicate outliers</a:t>
            </a:r>
            <a:br>
              <a:rPr lang="f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Highlights genes with consistent vs highly variable expression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5" name="Google Shape;145;p21" title="distribution_gene_expression_h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0" y="1086000"/>
            <a:ext cx="5222523" cy="27591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429075" y="3888800"/>
            <a:ext cx="5998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5: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Histogram of gene expression across samples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</a:rPr>
              <a:t>Discussion &amp; Key Findings</a:t>
            </a:r>
            <a:endParaRPr sz="3600" b="1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300" b="1"/>
          </a:p>
        </p:txBody>
      </p:sp>
      <p:sp>
        <p:nvSpPr>
          <p:cNvPr id="152" name="Google Shape;152;p2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400" b="1">
                <a:solidFill>
                  <a:schemeClr val="dk1"/>
                </a:solidFill>
              </a:rPr>
              <a:t>MAPT</a:t>
            </a:r>
            <a:r>
              <a:rPr lang="fr" sz="2400">
                <a:solidFill>
                  <a:schemeClr val="dk1"/>
                </a:solidFill>
              </a:rPr>
              <a:t> and </a:t>
            </a:r>
            <a:r>
              <a:rPr lang="fr" sz="2400" b="1">
                <a:solidFill>
                  <a:schemeClr val="dk1"/>
                </a:solidFill>
              </a:rPr>
              <a:t>PSEN1</a:t>
            </a:r>
            <a:r>
              <a:rPr lang="fr" sz="2400">
                <a:solidFill>
                  <a:schemeClr val="dk1"/>
                </a:solidFill>
              </a:rPr>
              <a:t> consistently higher in Severe stage</a:t>
            </a:r>
            <a:br>
              <a:rPr lang="f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400">
                <a:solidFill>
                  <a:schemeClr val="dk1"/>
                </a:solidFill>
              </a:rPr>
              <a:t>Boxplots and heatmap reveal stage-specific patterns</a:t>
            </a:r>
            <a:br>
              <a:rPr lang="f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400">
                <a:solidFill>
                  <a:schemeClr val="dk1"/>
                </a:solidFill>
              </a:rPr>
              <a:t>Fold-change table confirms key genes for further investigation</a:t>
            </a:r>
            <a:br>
              <a:rPr lang="f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Char char="●"/>
            </a:pPr>
            <a:r>
              <a:rPr lang="fr" sz="2400">
                <a:solidFill>
                  <a:schemeClr val="dk1"/>
                </a:solidFill>
              </a:rPr>
              <a:t>Findings align with prior literature (MAPT → tau pathology, PSEN1 → amyloid processing)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600" b="1">
                <a:solidFill>
                  <a:schemeClr val="accent3"/>
                </a:solidFill>
              </a:rPr>
              <a:t>Conclusion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58" name="Google Shape;158;p2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Python-based visualization effectively highlights stage-specific transcriptional differences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 b="1">
                <a:solidFill>
                  <a:schemeClr val="dk1"/>
                </a:solidFill>
              </a:rPr>
              <a:t>MAPT</a:t>
            </a:r>
            <a:r>
              <a:rPr lang="fr" sz="1600">
                <a:solidFill>
                  <a:schemeClr val="dk1"/>
                </a:solidFill>
              </a:rPr>
              <a:t> and </a:t>
            </a:r>
            <a:r>
              <a:rPr lang="fr" sz="1600" b="1">
                <a:solidFill>
                  <a:schemeClr val="dk1"/>
                </a:solidFill>
              </a:rPr>
              <a:t>PSEN1</a:t>
            </a:r>
            <a:r>
              <a:rPr lang="fr" sz="1600">
                <a:solidFill>
                  <a:schemeClr val="dk1"/>
                </a:solidFill>
              </a:rPr>
              <a:t> are potential biomarkers of AD severity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Provides foundation for deeper transcriptomic studies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300" b="1"/>
              <a:t>References</a:t>
            </a: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endParaRPr sz="2300" b="1">
              <a:solidFill>
                <a:schemeClr val="dk1"/>
              </a:solidFill>
            </a:endParaRPr>
          </a:p>
          <a:p>
            <a:pPr marL="457200" lvl="0" indent="-310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Eslami, F. (2025). Alzheimer Gene Expression Dataset. Kaggle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marL="457200" lvl="0" indent="-310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Hunter, J. D. (2007). Matplotlib: A 2D graphics environment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marL="457200" lvl="0" indent="-310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McKinney, W. (2010). Data structures for statistical computing in Python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marL="457200" lvl="0" indent="-310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Python Software Foundation. (2023). Python 3.11 Reference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marL="457200" lvl="0" indent="-310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Waskom, M. L. (2021). Seaborn: Statistical data visualization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marL="457200" lvl="0" indent="-28797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938"/>
              <a:buChar char="●"/>
            </a:pPr>
            <a:r>
              <a:rPr lang="fr" sz="1508">
                <a:solidFill>
                  <a:schemeClr val="dk1"/>
                </a:solidFill>
              </a:rPr>
              <a:t>Harris, C. R., et al. (2020). Array programming with NumPy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Microsoft Office PowerPoint</Application>
  <PresentationFormat>On-screen Show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Roboto Mono</vt:lpstr>
      <vt:lpstr>Roboto</vt:lpstr>
      <vt:lpstr>Arial</vt:lpstr>
      <vt:lpstr>Geometric</vt:lpstr>
      <vt:lpstr>Gene Expression Analysis of Alzheimer’s-Related Genes Across Disease Stages Using Python-Based Visualization</vt:lpstr>
      <vt:lpstr>Introduction</vt:lpstr>
      <vt:lpstr>Methods</vt:lpstr>
      <vt:lpstr>Boxplot of Gene Expression</vt:lpstr>
      <vt:lpstr>Mean Gene Expression by Stage (Bar Plot)</vt:lpstr>
      <vt:lpstr>Heatmap Across Samples</vt:lpstr>
      <vt:lpstr>Table of Significant Genes</vt:lpstr>
      <vt:lpstr>Fold-Change Bar Plot (Severe vs Incipient)</vt:lpstr>
      <vt:lpstr>Distribution of Gene Expression</vt:lpstr>
      <vt:lpstr>Discussion &amp; Key Findings 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Nada Khalifi</cp:lastModifiedBy>
  <cp:revision>1</cp:revision>
  <dcterms:modified xsi:type="dcterms:W3CDTF">2025-12-19T02:58:17Z</dcterms:modified>
</cp:coreProperties>
</file>